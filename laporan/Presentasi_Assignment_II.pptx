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A8D8"/>
                </a:solidFill>
                <a:latin typeface="Calibri"/>
              </a:rPr>
              <a:t>COMP8035041 — BIG DATA ANALYTICS  |  ASSIGNMENT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Rancangan Solusi Big Data dan Penerapan Machine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Learning untuk Prediksi Risiko Gempa Bumi di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B9C6E4"/>
                </a:solidFill>
                <a:latin typeface="Calibri"/>
              </a:rPr>
              <a:t>Memadukan katalog historis USGS dan data mutakhir BMKG dalam satu pipeline analitik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Antonius Bonni Febrianto — 2602689613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A8D8"/>
                </a:solidFill>
                <a:latin typeface="Calibri"/>
              </a:rPr>
              <a:t>BINUS University Graduate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BAB I — PENDAHULUAN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Latar Belakang: Frekuensi Tinggi, Perhatian Tidak Bisa Merata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23317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77B4"/>
                </a:solidFill>
                <a:latin typeface="Calibri"/>
              </a:rPr>
              <a:t>19.266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kejadian M ≥ 4,0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Indonesia, Jan 2015–Ags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463040"/>
            <a:ext cx="23317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15361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77B4"/>
                </a:solidFill>
                <a:latin typeface="Calibri"/>
              </a:rPr>
              <a:t>≈1.649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kejadian per tahun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(rata-rata 2015–2025)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63040"/>
            <a:ext cx="233172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5361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lempeng tektonik utama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Indo-Australia, Eurasia, Pasifik</a:t>
            </a:r>
          </a:p>
        </p:txBody>
      </p:sp>
      <p:pic>
        <p:nvPicPr>
          <p:cNvPr id="14" name="Picture 13" descr="gambar1_kejadian_per_tah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1" y="3063240"/>
            <a:ext cx="5902036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31089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Masalah inti: </a:t>
            </a:r>
            <a:r>
              <a:rPr sz="1300">
                <a:solidFill>
                  <a:srgbClr val="1B2A4A"/>
                </a:solidFill>
                <a:latin typeface="Calibri"/>
              </a:rPr>
              <a:t>bukan deteksi kejadian, tapi memprioritaskan wilayah yang secara sistematis berisiko lebih tinggi.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Sumber data terpecah: </a:t>
            </a:r>
            <a:r>
              <a:rPr sz="1300">
                <a:solidFill>
                  <a:srgbClr val="1B2A4A"/>
                </a:solidFill>
                <a:latin typeface="Calibri"/>
              </a:rPr>
              <a:t>BMKG (real-time, teks bebas), USGS (historis, numerik), BNPB (dasbor, tanpa API).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Calibri"/>
              </a:rPr>
              <a:t>Dampak: </a:t>
            </a:r>
            <a:r>
              <a:rPr sz="1300">
                <a:solidFill>
                  <a:srgbClr val="1B2A4A"/>
                </a:solidFill>
                <a:latin typeface="Calibri"/>
              </a:rPr>
              <a:t>tanpa pipeline terpadu, analisis risiko jadi reaktif, bukan prediktif.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TUJUAN &amp; RUANG LINGKUP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Dari Data Terpecah ke Keputusan Mitigasi yang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36118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7D3E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A4A"/>
                </a:solidFill>
                <a:latin typeface="Calibri"/>
              </a:rPr>
              <a:t>Big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A66"/>
                </a:solidFill>
                <a:latin typeface="Calibri"/>
              </a:rPr>
              <a:t>Satukan katalog historis USGS dan data mutakhir BMKG dalam satu pipeline ingestion → cleaning → penyimpanan terkontrak (Parquet).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6118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61188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7D3E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A4A"/>
                </a:solidFill>
                <a:latin typeface="Calibri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A66"/>
                </a:solidFill>
                <a:latin typeface="Calibri"/>
              </a:rPr>
              <a:t>Klasifikasikan tingkat risiko wilayah pada horizon 90 hari ke depan memakai fitur historis, tanpa kebocoran informasi masa depan.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118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61188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783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7D3E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2A4A"/>
                </a:solidFill>
                <a:latin typeface="Calibri"/>
              </a:rPr>
              <a:t>Graph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A66"/>
                </a:solidFill>
                <a:latin typeface="Calibri"/>
              </a:rPr>
              <a:t>Petakan keterkaitan spasial-temporal antarzona seismik dan pola multihazard antarwilayah.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BAB II — RANCANGAN 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Arsitektur Big Data: Empat Lapisan Independen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1_arsite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3558"/>
            <a:ext cx="7680960" cy="35938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554480"/>
            <a:ext cx="3200400" cy="307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>
                <a:solidFill>
                  <a:srgbClr val="1B2A4A"/>
                </a:solidFill>
                <a:latin typeface="Calibri"/>
              </a:rPr>
              <a:t>Ingestion: </a:t>
            </a:r>
            <a:r>
              <a:rPr sz="1250" dirty="0">
                <a:solidFill>
                  <a:srgbClr val="1B2A4A"/>
                </a:solidFill>
                <a:latin typeface="Calibri"/>
              </a:rPr>
              <a:t>USGS via FDSN API (chunk per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tahun</a:t>
            </a:r>
            <a:r>
              <a:rPr sz="1250" dirty="0">
                <a:solidFill>
                  <a:srgbClr val="1B2A4A"/>
                </a:solidFill>
                <a:latin typeface="Calibri"/>
              </a:rPr>
              <a:t>), BMKG via API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publik</a:t>
            </a:r>
            <a:r>
              <a:rPr sz="12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 err="1">
                <a:solidFill>
                  <a:srgbClr val="1B2A4A"/>
                </a:solidFill>
                <a:latin typeface="Calibri"/>
              </a:rPr>
              <a:t>Penyimpanan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lang="en-GB" sz="1250" dirty="0" err="1"/>
              <a:t>Penyimpanan</a:t>
            </a:r>
            <a:r>
              <a:rPr lang="en-GB" sz="1250" dirty="0"/>
              <a:t> data </a:t>
            </a:r>
            <a:r>
              <a:rPr lang="en-GB" sz="1250" dirty="0" err="1"/>
              <a:t>menggunakan</a:t>
            </a:r>
            <a:r>
              <a:rPr lang="en-GB" sz="1250" dirty="0"/>
              <a:t> format </a:t>
            </a:r>
            <a:r>
              <a:rPr lang="en-GB" sz="1250" i="1" dirty="0"/>
              <a:t>Parquet</a:t>
            </a:r>
            <a:r>
              <a:rPr lang="en-GB" sz="1250" dirty="0"/>
              <a:t>. </a:t>
            </a:r>
            <a:r>
              <a:rPr lang="en-GB" sz="1250" dirty="0" err="1"/>
              <a:t>Pendekatan</a:t>
            </a:r>
            <a:r>
              <a:rPr lang="en-GB" sz="1250" dirty="0"/>
              <a:t> </a:t>
            </a:r>
            <a:r>
              <a:rPr lang="en-GB" sz="1250" dirty="0" err="1"/>
              <a:t>ini</a:t>
            </a:r>
            <a:r>
              <a:rPr lang="en-GB" sz="1250" dirty="0"/>
              <a:t> </a:t>
            </a:r>
            <a:r>
              <a:rPr lang="en-GB" sz="1250" dirty="0" err="1"/>
              <a:t>memastikan</a:t>
            </a:r>
            <a:r>
              <a:rPr lang="en-GB" sz="1250" dirty="0"/>
              <a:t> </a:t>
            </a:r>
            <a:r>
              <a:rPr lang="en-GB" sz="1250" dirty="0" err="1"/>
              <a:t>perubahan</a:t>
            </a:r>
            <a:r>
              <a:rPr lang="en-GB" sz="1250" dirty="0"/>
              <a:t> pada proses </a:t>
            </a:r>
            <a:r>
              <a:rPr lang="en-GB" sz="1250" i="1" dirty="0"/>
              <a:t>cleaning</a:t>
            </a:r>
            <a:r>
              <a:rPr lang="en-GB" sz="1250" dirty="0"/>
              <a:t> </a:t>
            </a:r>
            <a:r>
              <a:rPr lang="en-GB" sz="1250" dirty="0" err="1"/>
              <a:t>tidak</a:t>
            </a:r>
            <a:r>
              <a:rPr lang="en-GB" sz="1250" dirty="0"/>
              <a:t> </a:t>
            </a:r>
            <a:r>
              <a:rPr lang="en-GB" sz="1250" dirty="0" err="1"/>
              <a:t>berdampak</a:t>
            </a:r>
            <a:r>
              <a:rPr lang="en-GB" sz="1250" dirty="0"/>
              <a:t> </a:t>
            </a:r>
            <a:r>
              <a:rPr lang="en-GB" sz="1250" dirty="0" err="1"/>
              <a:t>atau</a:t>
            </a:r>
            <a:r>
              <a:rPr lang="en-GB" sz="1250" dirty="0"/>
              <a:t> </a:t>
            </a:r>
            <a:r>
              <a:rPr lang="en-GB" sz="1250" dirty="0" err="1"/>
              <a:t>merusak</a:t>
            </a:r>
            <a:r>
              <a:rPr lang="en-GB" sz="1250" dirty="0"/>
              <a:t> </a:t>
            </a:r>
            <a:r>
              <a:rPr lang="en-GB" sz="1250" dirty="0" err="1"/>
              <a:t>kode</a:t>
            </a:r>
            <a:r>
              <a:rPr lang="en-GB" sz="1250" dirty="0"/>
              <a:t> di </a:t>
            </a:r>
            <a:r>
              <a:rPr lang="en-GB" sz="1250" dirty="0" err="1"/>
              <a:t>lapisan</a:t>
            </a:r>
            <a:r>
              <a:rPr lang="en-GB" sz="1250" dirty="0"/>
              <a:t> </a:t>
            </a:r>
            <a:r>
              <a:rPr lang="en-GB" sz="1250" dirty="0" err="1"/>
              <a:t>hilir</a:t>
            </a:r>
            <a:r>
              <a:rPr lang="en-GB" sz="1250" dirty="0"/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endParaRPr sz="1250" dirty="0">
              <a:solidFill>
                <a:srgbClr val="1B2A4A"/>
              </a:solidFill>
              <a:latin typeface="Calibri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 err="1">
                <a:solidFill>
                  <a:srgbClr val="1B2A4A"/>
                </a:solidFill>
                <a:latin typeface="Calibri"/>
              </a:rPr>
              <a:t>Pemrosesan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>
                <a:solidFill>
                  <a:srgbClr val="1B2A4A"/>
                </a:solidFill>
                <a:latin typeface="Calibri"/>
              </a:rPr>
              <a:t>cleaning, feature engineering, ML (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sklearn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&amp; Spark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MLlib</a:t>
            </a:r>
            <a:r>
              <a:rPr sz="1250" dirty="0">
                <a:solidFill>
                  <a:srgbClr val="1B2A4A"/>
                </a:solidFill>
                <a:latin typeface="Calibri"/>
              </a:rPr>
              <a:t>), graph analytics.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 err="1">
                <a:solidFill>
                  <a:srgbClr val="1B2A4A"/>
                </a:solidFill>
                <a:latin typeface="Calibri"/>
              </a:rPr>
              <a:t>Penyajian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laporan</a:t>
            </a:r>
            <a:r>
              <a:rPr sz="1250" dirty="0">
                <a:solidFill>
                  <a:srgbClr val="1B2A4A"/>
                </a:solidFill>
                <a:latin typeface="Calibri"/>
              </a:rPr>
              <a:t>, model, dan graph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siap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dikonsumsi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untuk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mitigasi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C6E4"/>
                </a:solidFill>
                <a:latin typeface="Calibri"/>
              </a:rPr>
              <a:t>BAB V —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Tantangan Terbesar: Tiga Lapis Kebocoran Label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B9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08760"/>
            <a:ext cx="3611880" cy="4480560"/>
          </a:xfrm>
          <a:prstGeom prst="rect">
            <a:avLst/>
          </a:prstGeom>
          <a:solidFill>
            <a:srgbClr val="2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Label dari sig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7D3E8"/>
                </a:solidFill>
                <a:latin typeface="Calibri"/>
              </a:rPr>
              <a:t>Korelasi 0,95 dengan fitur magnitudo → akurasi semu &gt;99%. Label langsung membocorkan fitur.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611880" cy="4480560"/>
          </a:xfrm>
          <a:prstGeom prst="rect">
            <a:avLst/>
          </a:prstGeom>
          <a:solidFill>
            <a:srgbClr val="2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7830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Statistik zona penuh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7D3E8"/>
                </a:solidFill>
                <a:latin typeface="Calibri"/>
              </a:rPr>
              <a:t>Dihitung dari SELURUH periode → label konstan per zona (classifier = geolocator, lat/lon saja capai 0,9946).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08760"/>
            <a:ext cx="3611880" cy="4480560"/>
          </a:xfrm>
          <a:prstGeom prst="rect">
            <a:avLst/>
          </a:prstGeom>
          <a:solidFill>
            <a:srgbClr val="2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0" y="1783080"/>
            <a:ext cx="594360" cy="594360"/>
          </a:xfrm>
          <a:prstGeom prst="ellipse">
            <a:avLst/>
          </a:prstGeom>
          <a:solidFill>
            <a:srgbClr val="21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06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Jendela 90 hari ke depan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310896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>
                <a:solidFill>
                  <a:srgbClr val="C7D3E8"/>
                </a:solidFill>
                <a:latin typeface="Calibri"/>
              </a:rPr>
              <a:t>Threshold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dihitung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hanya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dari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data train. Uji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lat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lon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-only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turun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ke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0,6809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jalur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kebocoran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7D3E8"/>
                </a:solidFill>
                <a:latin typeface="Calibri"/>
              </a:rPr>
              <a:t>tertutup</a:t>
            </a:r>
            <a:r>
              <a:rPr sz="1200" b="0" dirty="0">
                <a:solidFill>
                  <a:srgbClr val="C7D3E8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FEATURE ENGINEERING &amp; ALGORITMA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12 Fitur Historis, Empat Algoritma Dibandingkan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5940"/>
            <a:ext cx="6035040" cy="2514600"/>
          </a:xfrm>
          <a:prstGeom prst="rect">
            <a:avLst/>
          </a:prstGeom>
        </p:spPr>
      </p:pic>
      <p:pic>
        <p:nvPicPr>
          <p:cNvPr id="6" name="Picture 5" descr="03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73168"/>
            <a:ext cx="6035040" cy="1609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554480"/>
            <a:ext cx="4754880" cy="2404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Fitur: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magnitudo</a:t>
            </a:r>
            <a:r>
              <a:rPr sz="13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kedalaman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, gap,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dmin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, rms,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nst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historis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turunan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spasial</a:t>
            </a:r>
            <a:r>
              <a:rPr sz="1300" dirty="0">
                <a:solidFill>
                  <a:srgbClr val="1B2A4A"/>
                </a:solidFill>
                <a:latin typeface="Calibri"/>
              </a:rPr>
              <a:t>-temporal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tanpa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informasi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masa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depan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dirty="0" err="1">
                <a:solidFill>
                  <a:srgbClr val="1B2A4A"/>
                </a:solidFill>
                <a:latin typeface="Calibri"/>
              </a:rPr>
              <a:t>Algoritma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300" dirty="0">
                <a:solidFill>
                  <a:srgbClr val="1B2A4A"/>
                </a:solidFill>
                <a:latin typeface="Calibri"/>
              </a:rPr>
              <a:t>Logistic Regression, Random Forest, Gradient Boosting (scikit-learn) vs Random Forest (Spark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MLlib</a:t>
            </a:r>
            <a:r>
              <a:rPr sz="1300" dirty="0">
                <a:solidFill>
                  <a:srgbClr val="1B2A4A"/>
                </a:solidFill>
                <a:latin typeface="Calibri"/>
              </a:rPr>
              <a:t>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Split: </a:t>
            </a:r>
            <a:r>
              <a:rPr sz="1300" dirty="0">
                <a:solidFill>
                  <a:srgbClr val="1B2A4A"/>
                </a:solidFill>
                <a:latin typeface="Calibri"/>
              </a:rPr>
              <a:t>temporal train ≤2022, test 2023–2026 (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bukan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random split,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mencegah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kebocoran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waktu</a:t>
            </a:r>
            <a:r>
              <a:rPr sz="1300" dirty="0">
                <a:solidFill>
                  <a:srgbClr val="1B2A4A"/>
                </a:solidFill>
                <a:latin typeface="Calibri"/>
              </a:rPr>
              <a:t>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Feature importance: </a:t>
            </a:r>
            <a:r>
              <a:rPr sz="1300" dirty="0">
                <a:solidFill>
                  <a:srgbClr val="1B2A4A"/>
                </a:solidFill>
                <a:latin typeface="Calibri"/>
              </a:rPr>
              <a:t>Random Forest &amp; Gradient Boosting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sepakat</a:t>
            </a:r>
            <a:r>
              <a:rPr lang="en-GB"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fitur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jaringan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seismograf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berkontribusi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signifikan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bukan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cuma</a:t>
            </a:r>
            <a:r>
              <a:rPr sz="1300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B2A4A"/>
                </a:solidFill>
                <a:latin typeface="Calibri"/>
              </a:rPr>
              <a:t>magnitudo</a:t>
            </a:r>
            <a:r>
              <a:rPr sz="1300" dirty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HASIL EVALUASI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Random Forest Unggul, Spark Setara Mutu tapi 61× Lebih Lambat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7589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Akurasi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F1 Weighted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Waktu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4A"/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0,5793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0,8009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0,30s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Random Forest (sklearn)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0,7179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0,6999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0,6267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0,8274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4,65s</a:t>
                      </a:r>
                    </a:p>
                  </a:txBody>
                  <a:tcPr anchor="ctr">
                    <a:solidFill>
                      <a:srgbClr val="E3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4A"/>
                          </a:solidFill>
                        </a:rP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0,7026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0,6851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0,5978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0,8231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9,90s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4A"/>
                          </a:solidFill>
                        </a:rPr>
                        <a:t>Random Forest (Spark)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0,7174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0,6987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2A4A"/>
                          </a:solidFill>
                        </a:rPr>
                        <a:t>284,99s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04_sklearn_vs_s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99" y="3886200"/>
            <a:ext cx="7470201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200" y="1554480"/>
            <a:ext cx="3200400" cy="232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 err="1">
                <a:solidFill>
                  <a:srgbClr val="1B2A4A"/>
                </a:solidFill>
                <a:latin typeface="Calibri"/>
              </a:rPr>
              <a:t>Terbaik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>
                <a:solidFill>
                  <a:srgbClr val="1B2A4A"/>
                </a:solidFill>
                <a:latin typeface="Calibri"/>
              </a:rPr>
              <a:t>Random Forest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sklearn</a:t>
            </a:r>
            <a:r>
              <a:rPr sz="1250" dirty="0">
                <a:solidFill>
                  <a:srgbClr val="1B2A4A"/>
                </a:solidFill>
                <a:latin typeface="Calibri"/>
              </a:rPr>
              <a:t>, F1 macro 0,6267.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>
                <a:solidFill>
                  <a:srgbClr val="1B2A4A"/>
                </a:solidFill>
                <a:latin typeface="Calibri"/>
              </a:rPr>
              <a:t>Spark vs </a:t>
            </a:r>
            <a:r>
              <a:rPr sz="1250" b="1" dirty="0" err="1">
                <a:solidFill>
                  <a:srgbClr val="1B2A4A"/>
                </a:solidFill>
                <a:latin typeface="Calibri"/>
              </a:rPr>
              <a:t>sklearn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selisih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F1 weighted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cuma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0,0012 —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tidak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bermakna</a:t>
            </a:r>
            <a:r>
              <a:rPr sz="12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>
                <a:solidFill>
                  <a:srgbClr val="1B2A4A"/>
                </a:solidFill>
                <a:latin typeface="Calibri"/>
              </a:rPr>
              <a:t>Tapi 61× </a:t>
            </a:r>
            <a:r>
              <a:rPr sz="1250" b="1" dirty="0" err="1">
                <a:solidFill>
                  <a:srgbClr val="1B2A4A"/>
                </a:solidFill>
                <a:latin typeface="Calibri"/>
              </a:rPr>
              <a:t>lebih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1B2A4A"/>
                </a:solidFill>
                <a:latin typeface="Calibri"/>
              </a:rPr>
              <a:t>lambat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>
                <a:solidFill>
                  <a:srgbClr val="1B2A4A"/>
                </a:solidFill>
                <a:latin typeface="Calibri"/>
              </a:rPr>
              <a:t>overhead JVM/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serialisasi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melampaui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manfaat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paralelisasi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pada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skala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19rb baris.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 dirty="0" err="1">
                <a:solidFill>
                  <a:srgbClr val="1B2A4A"/>
                </a:solidFill>
                <a:latin typeface="Calibri"/>
              </a:rPr>
              <a:t>Implikasi</a:t>
            </a:r>
            <a:r>
              <a:rPr sz="12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50" dirty="0">
                <a:solidFill>
                  <a:srgbClr val="1B2A4A"/>
                </a:solidFill>
                <a:latin typeface="Calibri"/>
              </a:rPr>
              <a:t>Spark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baru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1250" dirty="0" err="1">
                <a:solidFill>
                  <a:srgbClr val="1B2A4A"/>
                </a:solidFill>
                <a:latin typeface="Calibri"/>
              </a:rPr>
              <a:t>akan</a:t>
            </a:r>
            <a:r>
              <a:rPr lang="en-GB"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1250" dirty="0" err="1">
                <a:solidFill>
                  <a:srgbClr val="1B2A4A"/>
                </a:solidFill>
                <a:latin typeface="Calibri"/>
              </a:rPr>
              <a:t>terasa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di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skala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jauh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lebih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besar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dari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 dataset </a:t>
            </a:r>
            <a:r>
              <a:rPr sz="1250" dirty="0" err="1">
                <a:solidFill>
                  <a:srgbClr val="1B2A4A"/>
                </a:solidFill>
                <a:latin typeface="Calibri"/>
              </a:rPr>
              <a:t>ini</a:t>
            </a:r>
            <a:r>
              <a:rPr sz="1250" dirty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BAB VI — GRAPH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Keterkaitan Spasial dan Pola Multihazard Antarwilayah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aph_a_spatial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846320" cy="4846320"/>
          </a:xfrm>
          <a:prstGeom prst="rect">
            <a:avLst/>
          </a:prstGeom>
        </p:spPr>
      </p:pic>
      <p:pic>
        <p:nvPicPr>
          <p:cNvPr id="6" name="Picture 5" descr="graph_b_bipart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13708"/>
            <a:ext cx="5394960" cy="38535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Graph A: 430 node, 998 edge, 89 komunitas Louvain. PageRank tertinggi: -7_129 (Laut Banda selatan).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989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Graph B: 439 node, 3.451 edge. 11 wilayah multihazard_degree=9 — Sulawesi/Maluku/Papua utara.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77B4"/>
                </a:solidFill>
                <a:latin typeface="Calibri"/>
              </a:rPr>
              <a:t>INSIGHT &amp; IMPLIKASI OPERASIONAL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Calibri"/>
              </a:rPr>
              <a:t>Model Konservatif: Separuh Zona Berisiko Tinggi Bisa Lolos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38404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A66"/>
                </a:solidFill>
                <a:latin typeface="Calibri"/>
              </a:rPr>
              <a:t>Presisi kelas “tinggi”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18B5A"/>
                </a:solidFill>
                <a:latin typeface="Calibri"/>
              </a:rPr>
              <a:t>0,86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38404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A66"/>
                </a:solidFill>
                <a:latin typeface="Calibri"/>
              </a:rPr>
              <a:t>Recall kelas “tinggi”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C0392B"/>
                </a:solidFill>
                <a:latin typeface="Calibri"/>
              </a:rPr>
              <a:t>0,49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00200"/>
            <a:ext cx="3063240" cy="1425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 dirty="0">
                <a:solidFill>
                  <a:srgbClr val="1B2A4A"/>
                </a:solidFill>
                <a:latin typeface="Calibri"/>
              </a:rPr>
              <a:t>Betweenness </a:t>
            </a:r>
            <a:r>
              <a:rPr sz="1200" b="1" dirty="0" err="1">
                <a:solidFill>
                  <a:srgbClr val="1B2A4A"/>
                </a:solidFill>
                <a:latin typeface="Calibri"/>
              </a:rPr>
              <a:t>tertinggi</a:t>
            </a:r>
            <a:r>
              <a:rPr sz="120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00" dirty="0">
                <a:solidFill>
                  <a:srgbClr val="1B2A4A"/>
                </a:solidFill>
                <a:latin typeface="Calibri"/>
              </a:rPr>
              <a:t>-4_122 (Selat Sunda)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penghubung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klaster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Sumatra</a:t>
            </a:r>
            <a:r>
              <a:rPr lang="en-GB"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>
                <a:solidFill>
                  <a:srgbClr val="1B2A4A"/>
                </a:solidFill>
                <a:latin typeface="Calibri"/>
              </a:rPr>
              <a:t>Jawa,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prioritas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mitigasi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konektivitas</a:t>
            </a:r>
            <a:r>
              <a:rPr sz="120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 dirty="0">
                <a:solidFill>
                  <a:srgbClr val="1B2A4A"/>
                </a:solidFill>
                <a:latin typeface="Calibri"/>
              </a:rPr>
              <a:t>Node PageRank </a:t>
            </a:r>
            <a:r>
              <a:rPr sz="1200" b="1" dirty="0" err="1">
                <a:solidFill>
                  <a:srgbClr val="1B2A4A"/>
                </a:solidFill>
                <a:latin typeface="Calibri"/>
              </a:rPr>
              <a:t>tinggi</a:t>
            </a:r>
            <a:r>
              <a:rPr sz="12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B2A4A"/>
                </a:solidFill>
                <a:latin typeface="Calibri"/>
              </a:rPr>
              <a:t>berbetweenness</a:t>
            </a:r>
            <a:r>
              <a:rPr sz="12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B2A4A"/>
                </a:solidFill>
                <a:latin typeface="Calibri"/>
              </a:rPr>
              <a:t>nol</a:t>
            </a:r>
            <a:r>
              <a:rPr sz="120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berada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di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klaster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padat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yang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sudah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saling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terhubung</a:t>
            </a:r>
            <a:r>
              <a:rPr sz="1200" dirty="0">
                <a:solidFill>
                  <a:srgbClr val="1B2A4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B2A4A"/>
                </a:solidFill>
                <a:latin typeface="Calibri"/>
              </a:rPr>
              <a:t>langsung</a:t>
            </a:r>
            <a:r>
              <a:rPr sz="1200" dirty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7863840" cy="111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dirty="0" err="1">
                <a:solidFill>
                  <a:srgbClr val="1B2A4A"/>
                </a:solidFill>
                <a:latin typeface="Calibri"/>
              </a:rPr>
              <a:t>Artinya</a:t>
            </a:r>
            <a:r>
              <a:rPr sz="13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ketika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model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bilang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zona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itu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risiko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tinggi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, 86%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benar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tapi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model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ini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melewatkan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sekitar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separuh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zona yang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sebenarnya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berisiko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tinggi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dirty="0" err="1">
                <a:solidFill>
                  <a:srgbClr val="1B2A4A"/>
                </a:solidFill>
                <a:latin typeface="Calibri"/>
              </a:rPr>
              <a:t>Implikasi</a:t>
            </a:r>
            <a:r>
              <a:rPr sz="135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1B2A4A"/>
                </a:solidFill>
                <a:latin typeface="Calibri"/>
              </a:rPr>
              <a:t>mitigasi</a:t>
            </a:r>
            <a:r>
              <a:rPr sz="1350" b="1" dirty="0">
                <a:solidFill>
                  <a:srgbClr val="1B2A4A"/>
                </a:solidFill>
                <a:latin typeface="Calibri"/>
              </a:rPr>
              <a:t>: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sistem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ini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cocok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jadi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lapisan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prioritisasi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awal</a:t>
            </a:r>
            <a:r>
              <a:rPr sz="1350" dirty="0">
                <a:solidFill>
                  <a:srgbClr val="1B2A4A"/>
                </a:solidFill>
                <a:latin typeface="Calibri"/>
              </a:rPr>
              <a:t>,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bukan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satu-satunya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sumber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1350" dirty="0">
                <a:solidFill>
                  <a:srgbClr val="1B2A4A"/>
                </a:solidFill>
                <a:latin typeface="Calibri"/>
              </a:rPr>
              <a:t>K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eputusan</a:t>
            </a:r>
            <a:r>
              <a:rPr lang="en-GB"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perlu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dikombinasikan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dengan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pemantauan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zona borderline agar false negative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tidak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lolos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begitu</a:t>
            </a:r>
            <a:r>
              <a:rPr sz="1350" dirty="0">
                <a:solidFill>
                  <a:srgbClr val="1B2A4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1B2A4A"/>
                </a:solidFill>
                <a:latin typeface="Calibri"/>
              </a:rPr>
              <a:t>saja</a:t>
            </a:r>
            <a:r>
              <a:rPr sz="1350" dirty="0">
                <a:solidFill>
                  <a:srgbClr val="1B2A4A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9C6E4"/>
                </a:solidFill>
                <a:latin typeface="Calibri"/>
              </a:rP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Dari 19.266 Kejadian Tersebar ke Satu Pipeline Analitik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91672" cy="0"/>
          </a:xfrm>
          <a:prstGeom prst="line">
            <a:avLst/>
          </a:prstGeom>
          <a:ln w="19050">
            <a:solidFill>
              <a:srgbClr val="B9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10789920" cy="2315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Pipeline: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USGS + BMKG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terpadu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lewat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kontrak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Parquet,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direplikasi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end-to-end dan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divalidasi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lokal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sebelum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tiap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push.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Model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teruji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tiga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lapis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kebocoran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label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ditemukan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dan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ditutup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 Random Forest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sklearn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jadi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model final (F1 macro 0,6267),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setara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mutu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dengan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Spark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MLlib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namun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61×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lebih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cepat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pada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skala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ini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Graph analytics: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mengungkap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struktur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konektivitas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(Selat Sunda) dan zona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multihazard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(Sulawesi/Maluku/Papua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utara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) yang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tidak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terlihat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dari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analisis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tabular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saja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Batas yang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jujur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diakui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recall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kelas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risiko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tinggi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masih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0,49</a:t>
            </a:r>
            <a:r>
              <a:rPr lang="en-GB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arah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pengembangan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berikut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adalah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menambah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fitur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atau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menyesuaikan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threshold agar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deteksi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zona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kritis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lebih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sensitif</a:t>
            </a:r>
            <a:r>
              <a:rPr sz="16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Prediksi Risiko Gempa Bumi Indonesia — Big Data &amp;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3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985</Words>
  <Application>Microsoft Macintosh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Antonius B</cp:lastModifiedBy>
  <cp:revision>2</cp:revision>
  <dcterms:created xsi:type="dcterms:W3CDTF">2013-01-27T09:14:16Z</dcterms:created>
  <dcterms:modified xsi:type="dcterms:W3CDTF">2026-08-12T03:14:03Z</dcterms:modified>
  <cp:category/>
</cp:coreProperties>
</file>